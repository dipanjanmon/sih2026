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156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344400" y="0"/>
            <a:ext cx="9144" cy="6858000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1695" cy="9144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1371600"/>
            <a:ext cx="12191695" cy="9144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2286000"/>
            <a:ext cx="12191695" cy="9144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3200400"/>
            <a:ext cx="12191695" cy="9144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114800"/>
            <a:ext cx="12191695" cy="9144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5029200"/>
            <a:ext cx="12191695" cy="9144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5943600"/>
            <a:ext cx="12191695" cy="9144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858000"/>
            <a:ext cx="12191695" cy="9144"/>
          </a:xfrm>
          <a:prstGeom prst="rect">
            <a:avLst/>
          </a:prstGeom>
          <a:solidFill>
            <a:srgbClr val="15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10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601200" y="1371600"/>
            <a:ext cx="1097280" cy="1097280"/>
          </a:xfrm>
          <a:prstGeom prst="ellipse">
            <a:avLst/>
          </a:prstGeom>
          <a:solidFill>
            <a:srgbClr val="1B4D89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241280" y="2743200"/>
            <a:ext cx="731520" cy="731520"/>
          </a:xfrm>
          <a:prstGeom prst="ellipse">
            <a:avLst/>
          </a:prstGeom>
          <a:solidFill>
            <a:srgbClr val="D4A843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961120" y="4114800"/>
            <a:ext cx="914400" cy="914400"/>
          </a:xfrm>
          <a:prstGeom prst="ellipse">
            <a:avLst/>
          </a:prstGeom>
          <a:solidFill>
            <a:srgbClr val="1B4D89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058400" y="5029200"/>
            <a:ext cx="640080" cy="640080"/>
          </a:xfrm>
          <a:prstGeom prst="ellipse">
            <a:avLst/>
          </a:prstGeom>
          <a:solidFill>
            <a:srgbClr val="D4A843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686800" y="2011680"/>
            <a:ext cx="1371600" cy="13716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000" b="1">
                <a:solidFill>
                  <a:srgbClr val="0B213F"/>
                </a:solidFill>
                <a:latin typeface="Garamond"/>
              </a:defRPr>
            </a:pPr>
            <a:r>
              <a:t>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1097280"/>
            <a:ext cx="6858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4A843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169164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1920240"/>
            <a:ext cx="6858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>
                <a:solidFill>
                  <a:srgbClr val="FFFFFF"/>
                </a:solidFill>
                <a:latin typeface="Garamond"/>
              </a:defRPr>
            </a:pPr>
            <a:r>
              <a:t>PashuRaksha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2926080"/>
            <a:ext cx="6858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94A3B8"/>
                </a:solidFill>
                <a:latin typeface="Arial"/>
              </a:defRPr>
            </a:pPr>
            <a:r>
              <a:t>AI-Powered Livestock Health</a:t>
            </a:r>
            <a:br/>
            <a:r>
              <a:t>Surveillance System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365760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Problem Statement 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385876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25031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4187952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Theme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43891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Smart Education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4718304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491947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Software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5248656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Team 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5449824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ANI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5779008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Team Name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5980176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PashuRaksha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21792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630936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  <a:latin typeface="Arial"/>
              </a:defRPr>
            </a:pPr>
            <a:r>
              <a:t>Department of Animal Husbandry &amp; Dairying  |  Govt. of India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0B213F"/>
                </a:solidFill>
                <a:latin typeface="Garamond"/>
              </a:defRPr>
            </a:pPr>
            <a:r>
              <a:t>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How PashuRaksha addresses India's livestock health crisis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  <a:latin typeface="Arial"/>
              </a:defRPr>
            </a:pPr>
            <a:r>
              <a:t>PashuRaksha | SIH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0" y="5989320"/>
            <a:ext cx="1097280" cy="365760"/>
          </a:xfrm>
          <a:prstGeom prst="roundRect">
            <a:avLst/>
          </a:prstGeom>
          <a:solidFill>
            <a:srgbClr val="10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D4A843"/>
                </a:solidFill>
                <a:latin typeface="Arial"/>
              </a:defRPr>
            </a:pPr>
            <a:r>
              <a:t>Team ANI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E293B"/>
                </a:solidFill>
                <a:latin typeface="Arial"/>
              </a:defRPr>
            </a:pPr>
            <a:r>
              <a:t>PashuRaksha is a national-scale web-based livestock health monitoring platform enabling real-time disease surveillance across India's 535.78M+ registered livestock.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86000"/>
            <a:ext cx="5029200" cy="8229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59152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B213F"/>
                </a:solidFill>
                <a:latin typeface="Arial"/>
              </a:defRPr>
            </a:pPr>
            <a:r>
              <a:t>Role-Based 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5 tailored views: Farmer, Veterinarian, Government, Lab, Admin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00400"/>
            <a:ext cx="5029200" cy="8229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73552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B213F"/>
                </a:solidFill>
                <a:latin typeface="Arial"/>
              </a:defRPr>
            </a:pPr>
            <a:r>
              <a:t>Disease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Geo-tagged case reporting with symptoms, photos, and location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5029200" cy="8229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87952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B213F"/>
                </a:solidFill>
                <a:latin typeface="Arial"/>
              </a:defRPr>
            </a:pPr>
            <a:r>
              <a:t>AI Risk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348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Rule-based + ML-powered outbreak detection with cluster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286000"/>
            <a:ext cx="5029200" cy="8229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359152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B213F"/>
                </a:solidFill>
                <a:latin typeface="Arial"/>
              </a:defRPr>
            </a:pPr>
            <a:r>
              <a:t>Disease Maps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Interactive Leaflet maps with district/block/village drill-down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00400"/>
            <a:ext cx="5029200" cy="8229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273552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B213F"/>
                </a:solidFill>
                <a:latin typeface="Arial"/>
              </a:defRPr>
            </a:pPr>
            <a:r>
              <a:t>Lab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204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End-to-end sample pipeline: collection → transit → testing → results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114800"/>
            <a:ext cx="5029200" cy="8229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187952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B213F"/>
                </a:solidFill>
                <a:latin typeface="Arial"/>
              </a:defRPr>
            </a:pPr>
            <a:r>
              <a:t>Smart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4348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Automated outbreak alerts with severity-based notification routing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212080"/>
            <a:ext cx="10515600" cy="822960"/>
          </a:xfrm>
          <a:prstGeom prst="roundRect">
            <a:avLst/>
          </a:prstGeom>
          <a:solidFill>
            <a:srgbClr val="0B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D4A843"/>
                </a:solidFill>
                <a:latin typeface="Arial"/>
              </a:defRPr>
            </a:pPr>
            <a:r>
              <a:t>Innovation: One unified platform replacing fragmented systems  |  Geographic cluster detection using PostGIS  |  Real-time risk scoring engine  |  Vaccination coverage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0B213F"/>
                </a:solidFill>
                <a:latin typeface="Garamond"/>
              </a:defRPr>
            </a:pPr>
            <a:r>
              <a:t>TECHNICAL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Technology stack and implementation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  <a:latin typeface="Arial"/>
              </a:defRPr>
            </a:pPr>
            <a:r>
              <a:t>PashuRaksha | SIH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0" y="5989320"/>
            <a:ext cx="1097280" cy="365760"/>
          </a:xfrm>
          <a:prstGeom prst="roundRect">
            <a:avLst/>
          </a:prstGeom>
          <a:solidFill>
            <a:srgbClr val="10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D4A843"/>
                </a:solidFill>
                <a:latin typeface="Arial"/>
              </a:defRPr>
            </a:pPr>
            <a:r>
              <a:t>Team ANI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2801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B213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691640"/>
            <a:ext cx="2286000" cy="1005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React</a:t>
            </a:r>
            <a:br/>
            <a:r>
              <a:t>Frontend</a:t>
            </a:r>
          </a:p>
          <a:p>
            <a:pPr algn="ctr">
              <a:defRPr sz="900">
                <a:solidFill>
                  <a:srgbClr val="BFDBFE"/>
                </a:solidFill>
                <a:latin typeface="Arial"/>
              </a:defRPr>
            </a:pPr>
            <a:r>
              <a:t>UI/Dashboard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63239" y="1965960"/>
            <a:ext cx="365760" cy="365760"/>
          </a:xfrm>
          <a:prstGeom prst="rightArrow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1691640"/>
            <a:ext cx="2286000" cy="1005840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Spring Boot</a:t>
            </a:r>
            <a:br/>
            <a:r>
              <a:t>Backend</a:t>
            </a:r>
          </a:p>
          <a:p>
            <a:pPr algn="ctr">
              <a:defRPr sz="900">
                <a:solidFill>
                  <a:srgbClr val="BFDBFE"/>
                </a:solidFill>
                <a:latin typeface="Arial"/>
              </a:defRPr>
            </a:pPr>
            <a:r>
              <a:t>API/Logic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60720" y="1965960"/>
            <a:ext cx="365760" cy="365760"/>
          </a:xfrm>
          <a:prstGeom prst="rightArrow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1691640"/>
            <a:ext cx="2286000" cy="1005840"/>
          </a:xfrm>
          <a:prstGeom prst="roundRect">
            <a:avLst/>
          </a:prstGeom>
          <a:solidFill>
            <a:srgbClr val="10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PostgreSQL</a:t>
            </a:r>
            <a:br/>
            <a:r>
              <a:t>+ PostGIS</a:t>
            </a:r>
          </a:p>
          <a:p>
            <a:pPr algn="ctr">
              <a:defRPr sz="900">
                <a:solidFill>
                  <a:srgbClr val="BFDBFE"/>
                </a:solidFill>
                <a:latin typeface="Arial"/>
              </a:defRPr>
            </a:pPr>
            <a:r>
              <a:t>Data/Geo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458200" y="1965960"/>
            <a:ext cx="365760" cy="365760"/>
          </a:xfrm>
          <a:prstGeom prst="rightArrow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23960" y="1691640"/>
            <a:ext cx="2286000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Python AI</a:t>
            </a:r>
            <a:br/>
            <a:r>
              <a:t>Service</a:t>
            </a:r>
          </a:p>
          <a:p>
            <a:pPr algn="ctr">
              <a:defRPr sz="900">
                <a:solidFill>
                  <a:srgbClr val="BFDBFE"/>
                </a:solidFill>
                <a:latin typeface="Arial"/>
              </a:defRPr>
            </a:pPr>
            <a:r>
              <a:t>Risk/ML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17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B213F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429000"/>
            <a:ext cx="2560320" cy="2377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429000"/>
            <a:ext cx="2560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5661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B213F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31920"/>
            <a:ext cx="21945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React 19 + TypeScript</a:t>
            </a:r>
            <a:br/>
            <a:r>
              <a:t>Tailwind CSS v4</a:t>
            </a:r>
            <a:br/>
            <a:r>
              <a:t>TanStack Query v5</a:t>
            </a:r>
            <a:br/>
            <a:r>
              <a:t>Leaflet.js + Recharts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39" y="3429000"/>
            <a:ext cx="2560320" cy="2377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20439" y="3429000"/>
            <a:ext cx="2560320" cy="54864"/>
          </a:xfrm>
          <a:prstGeom prst="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35661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B213F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931920"/>
            <a:ext cx="21945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Java 21 + Spring Boot 3.4</a:t>
            </a:r>
            <a:br/>
            <a:r>
              <a:t>Spring Security + JWT</a:t>
            </a:r>
            <a:br/>
            <a:r>
              <a:t>JPA / Hibernate</a:t>
            </a:r>
            <a:br/>
            <a:r>
              <a:t>Modular Monolith (13 modules)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3429000"/>
            <a:ext cx="2560320" cy="2377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59" y="3429000"/>
            <a:ext cx="2560320" cy="54864"/>
          </a:xfrm>
          <a:prstGeom prst="rect">
            <a:avLst/>
          </a:prstGeom>
          <a:solidFill>
            <a:srgbClr val="10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5661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B213F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931920"/>
            <a:ext cx="21945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PostgreSQL 16</a:t>
            </a:r>
            <a:br/>
            <a:r>
              <a:t>PostGIS 3.x</a:t>
            </a:r>
            <a:br/>
            <a:r>
              <a:t>Spatial Queries</a:t>
            </a:r>
            <a:br/>
            <a:r>
              <a:t>UUID + Enum Types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3429000"/>
            <a:ext cx="2560320" cy="2377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98280" y="3429000"/>
            <a:ext cx="25603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59" y="35661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B213F"/>
                </a:solidFill>
                <a:latin typeface="Arial"/>
              </a:defRPr>
            </a:pPr>
            <a:r>
              <a:t>AI/Analytics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59" y="3931920"/>
            <a:ext cx="21945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Python 3.10 + FastAPI</a:t>
            </a:r>
            <a:br/>
            <a:r>
              <a:t>scikit-learn (ML)</a:t>
            </a:r>
            <a:br/>
            <a:r>
              <a:t>Rule-based Risk Engine</a:t>
            </a:r>
            <a:br/>
            <a:r>
              <a:t>Cluster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0B213F"/>
                </a:solidFill>
                <a:latin typeface="Garamond"/>
              </a:defRPr>
            </a:pPr>
            <a:r>
              <a:t>FEASIBILITY AND VIABILITY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Implementation analysis and risk mitigation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  <a:latin typeface="Arial"/>
              </a:defRPr>
            </a:pPr>
            <a:r>
              <a:t>PashuRaksha | SIH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0" y="5989320"/>
            <a:ext cx="1097280" cy="365760"/>
          </a:xfrm>
          <a:prstGeom prst="roundRect">
            <a:avLst/>
          </a:prstGeom>
          <a:solidFill>
            <a:srgbClr val="10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D4A843"/>
                </a:solidFill>
                <a:latin typeface="Arial"/>
              </a:defRPr>
            </a:pPr>
            <a:r>
              <a:t>Team ANI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B213F"/>
                </a:solidFill>
                <a:latin typeface="Arial"/>
              </a:defRPr>
            </a:pPr>
            <a:r>
              <a:t>Why This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Fully functional prototype with Docker deployment already running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Proven tech stack: React, Spring Boot, PostgreSQL used by enterprises worldwide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Team expertise in Java, React, TypeScript, and Python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Open-source stack eliminates all licensing costs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PostGIS provides native geographic query support for disease mapping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Integration path with Bharat Pashudhaar national livestock registry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3716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F4444"/>
                </a:solidFill>
                <a:latin typeface="Arial"/>
              </a:defRPr>
            </a:pPr>
            <a:r>
              <a:t>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! Rural internet connectivity limitations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! Data quality from inconsistent reporting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! User adoption among field workers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! Scale: 535M+ animals across 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5661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t>Mitigation Strategies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→ PWA for offline-first capability in remote areas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→ Multi-language UI for farmer accessibility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→ Phased rollout: District → State → National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→ Integration with existing LHDCP framework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20640"/>
            <a:ext cx="10515600" cy="10058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120640"/>
            <a:ext cx="73152" cy="10058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213F"/>
                </a:solidFill>
                <a:latin typeface="Arial"/>
              </a:defRPr>
            </a:pPr>
            <a:r>
              <a:t>MUST HAVE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  <a:latin typeface="Arial"/>
              </a:defRPr>
            </a:pPr>
            <a:r>
              <a:t>• Auth + Dashboards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  <a:latin typeface="Arial"/>
              </a:defRPr>
            </a:pPr>
            <a:r>
              <a:t>• Disease 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  <a:latin typeface="Arial"/>
              </a:defRPr>
            </a:pPr>
            <a:r>
              <a:t>• Weather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893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  <a:latin typeface="Arial"/>
              </a:defRPr>
            </a:pPr>
            <a:r>
              <a:t>• Mobile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16636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213F"/>
                </a:solidFill>
                <a:latin typeface="Arial"/>
              </a:defRPr>
            </a:pPr>
            <a:r>
              <a:t>SHOULD HAVE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4406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  <a:latin typeface="Arial"/>
              </a:defRPr>
            </a:pPr>
            <a:r>
              <a:t>• PostGIS Maps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6235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  <a:latin typeface="Arial"/>
              </a:defRPr>
            </a:pPr>
            <a:r>
              <a:t>• Lab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8064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  <a:latin typeface="Arial"/>
              </a:defRPr>
            </a:pPr>
            <a:r>
              <a:t>• Vaccination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9893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  <a:latin typeface="Arial"/>
              </a:defRPr>
            </a:pPr>
            <a:r>
              <a:t>• IVR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16636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213F"/>
                </a:solidFill>
                <a:latin typeface="Arial"/>
              </a:defRPr>
            </a:pPr>
            <a:r>
              <a:t>EASY TO ADD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4406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  <a:latin typeface="Arial"/>
              </a:defRPr>
            </a:pPr>
            <a:r>
              <a:t>• Risk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6235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  <a:latin typeface="Arial"/>
              </a:defRPr>
            </a:pPr>
            <a:r>
              <a:t>• Multi-language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8064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  <a:latin typeface="Arial"/>
              </a:defRPr>
            </a:pPr>
            <a:r>
              <a:t>• Analytics Charts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9893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  <a:latin typeface="Arial"/>
              </a:defRPr>
            </a:pPr>
            <a:r>
              <a:t>• IoT Sensors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516636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213F"/>
                </a:solidFill>
                <a:latin typeface="Arial"/>
              </a:defRPr>
            </a:pPr>
            <a:r>
              <a:t>LATER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54406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  <a:latin typeface="Arial"/>
              </a:defRPr>
            </a:pPr>
            <a:r>
              <a:t>• Alert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56235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  <a:latin typeface="Arial"/>
              </a:defRPr>
            </a:pPr>
            <a:r>
              <a:t>• Case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58064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  <a:latin typeface="Arial"/>
              </a:defRPr>
            </a:pPr>
            <a:r>
              <a:t>• Report Export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59893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  <a:latin typeface="Arial"/>
              </a:defRPr>
            </a:pPr>
            <a:r>
              <a:t>• Blockchain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0B213F"/>
                </a:solidFill>
                <a:latin typeface="Garamond"/>
              </a:defRPr>
            </a:pPr>
            <a:r>
              <a:t>IMPACT AND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Transforming livestock health management across India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  <a:latin typeface="Arial"/>
              </a:defRPr>
            </a:pPr>
            <a:r>
              <a:t>PashuRaksha | SIH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0" y="5989320"/>
            <a:ext cx="1097280" cy="365760"/>
          </a:xfrm>
          <a:prstGeom prst="roundRect">
            <a:avLst/>
          </a:prstGeom>
          <a:solidFill>
            <a:srgbClr val="10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D4A843"/>
                </a:solidFill>
                <a:latin typeface="Arial"/>
              </a:defRPr>
            </a:pPr>
            <a:r>
              <a:t>Team ANI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63040"/>
            <a:ext cx="2103120" cy="2560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463040"/>
            <a:ext cx="21031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64592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6A34A"/>
                </a:solidFill>
                <a:latin typeface="Arial"/>
              </a:defRPr>
            </a:pPr>
            <a:r>
              <a:t>2.5M+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05740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B213F"/>
                </a:solidFill>
                <a:latin typeface="Arial"/>
              </a:defRPr>
            </a:pPr>
            <a:r>
              <a:t>Farmers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77440"/>
            <a:ext cx="17373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Early disease detection reduces mortality; doorstep vet care via 1962 MVU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1463040"/>
            <a:ext cx="2103120" cy="2560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17520" y="1463040"/>
            <a:ext cx="2103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164592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3B82F6"/>
                </a:solidFill>
                <a:latin typeface="Arial"/>
              </a:defRPr>
            </a:pPr>
            <a:r>
              <a:t>50K+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05740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B213F"/>
                </a:solidFill>
                <a:latin typeface="Arial"/>
              </a:defRPr>
            </a:pPr>
            <a:r>
              <a:t>Veterinarians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377440"/>
            <a:ext cx="17373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Real-time case assignment; geographic cluster visibility; optimized visits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1463040"/>
            <a:ext cx="2103120" cy="2560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0" y="1463040"/>
            <a:ext cx="2103120" cy="54864"/>
          </a:xfrm>
          <a:prstGeom prst="rect">
            <a:avLst/>
          </a:prstGeom>
          <a:solidFill>
            <a:srgbClr val="0B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164592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B213F"/>
                </a:solidFill>
                <a:latin typeface="Arial"/>
              </a:defRPr>
            </a:pPr>
            <a:r>
              <a:t>730+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05740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B213F"/>
                </a:solidFill>
                <a:latin typeface="Arial"/>
              </a:defRPr>
            </a:pPr>
            <a:r>
              <a:t>Government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377440"/>
            <a:ext cx="17373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District-level epidemiological monitoring for evidence-based policies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1463040"/>
            <a:ext cx="2103120" cy="2560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9520" y="1463040"/>
            <a:ext cx="21031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164592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7C3AED"/>
                </a:solidFill>
                <a:latin typeface="Arial"/>
              </a:defRPr>
            </a:pPr>
            <a:r>
              <a:t>1.5K+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05740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B213F"/>
                </a:solidFill>
                <a:latin typeface="Arial"/>
              </a:defRPr>
            </a:pPr>
            <a:r>
              <a:t>Laboratories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2377440"/>
            <a:ext cx="17373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Streamlined sample tracking from collection to result reporting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1463040"/>
            <a:ext cx="2103120" cy="2560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75520" y="1463040"/>
            <a:ext cx="210312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164592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D4A843"/>
                </a:solidFill>
                <a:latin typeface="Arial"/>
              </a:defRPr>
            </a:pPr>
            <a:r>
              <a:t>535M+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05740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B213F"/>
                </a:solidFill>
                <a:latin typeface="Arial"/>
              </a:defRPr>
            </a:pPr>
            <a:r>
              <a:t>National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2377440"/>
            <a:ext cx="17373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Prevention of FMD, LSD, Avian Influenza outbreaks saving billions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297680"/>
            <a:ext cx="105156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4348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B213F"/>
                </a:solidFill>
                <a:latin typeface="Arial"/>
              </a:defRPr>
            </a:pPr>
            <a:r>
              <a:t>Socio-Economic Benefits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846320"/>
            <a:ext cx="2011680" cy="10058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Social</a:t>
            </a:r>
          </a:p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Empowers rural farmers; bridges urban-rural vet care gap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44368" y="4846320"/>
            <a:ext cx="2011680" cy="100584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Economic</a:t>
            </a:r>
          </a:p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Reduces ₹50,000 Cr annual livestock disease losses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57216" y="4846320"/>
            <a:ext cx="2011680" cy="1005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Environmental</a:t>
            </a:r>
          </a:p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Targeted vaccination reduces mass immunization waste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70063" y="4846320"/>
            <a:ext cx="2011680" cy="1005840"/>
          </a:xfrm>
          <a:prstGeom prst="roundRect">
            <a:avLst/>
          </a:prstGeom>
          <a:solidFill>
            <a:srgbClr val="0B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Governance</a:t>
            </a:r>
          </a:p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Real-time data supports evidence-based AH policies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82911" y="4846320"/>
            <a:ext cx="2011680" cy="10058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Public Health</a:t>
            </a:r>
          </a:p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Early zoonotic detection (Avian Flu, Brucellosis)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0B213F"/>
                </a:solidFill>
                <a:latin typeface="Garamond"/>
              </a:defRPr>
            </a:pPr>
            <a:r>
              <a:t>RESEARCH AND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Sources and frameworks powering PashuRaksha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  <a:latin typeface="Arial"/>
              </a:defRPr>
            </a:pPr>
            <a:r>
              <a:t>PashuRaksha | SIH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0" y="5989320"/>
            <a:ext cx="1097280" cy="365760"/>
          </a:xfrm>
          <a:prstGeom prst="roundRect">
            <a:avLst/>
          </a:prstGeom>
          <a:solidFill>
            <a:srgbClr val="10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D4A843"/>
                </a:solidFill>
                <a:latin typeface="Arial"/>
              </a:defRPr>
            </a:pPr>
            <a:r>
              <a:t>Team ANI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63040"/>
            <a:ext cx="5029200" cy="175564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463040"/>
            <a:ext cx="54864" cy="175564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5087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B213F"/>
                </a:solidFill>
                <a:latin typeface="Arial"/>
              </a:defRPr>
            </a:pPr>
            <a:r>
              <a:t>Government Frameworks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810512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  LHDCP - Livestock Health Disease Control Programme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157984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  Bharat Pashudhaar - National Digital Livestock Registry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505456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  ICAR-NIVH - Veterinary Epidemiology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85292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  NIC - Government e-Governance Infrastructure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38728"/>
            <a:ext cx="5029200" cy="140817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538728"/>
            <a:ext cx="54864" cy="14081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58444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B213F"/>
                </a:solidFill>
                <a:latin typeface="Arial"/>
              </a:defRPr>
            </a:pPr>
            <a:r>
              <a:t>Industry Standards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886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  FAO EMPRES - Transboundary Animal Disease Surveillance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33672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  WOAH - International Veterinary Health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81144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  PostGIS - Open Source Geospatial Foundation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463040"/>
            <a:ext cx="5029200" cy="175564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463040"/>
            <a:ext cx="54864" cy="1755648"/>
          </a:xfrm>
          <a:prstGeom prst="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5087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B213F"/>
                </a:solidFill>
                <a:latin typeface="Arial"/>
              </a:defRPr>
            </a:pPr>
            <a:r>
              <a:t>Technical 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810512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  Spring Boot Documentation - VMware/Broadcom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157984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  React 19 Official Documentation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505456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  PostgreSQL 16 + PostGIS 3.x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85292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  scikit-learn ML Framework Documentation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538728"/>
            <a:ext cx="5029200" cy="175564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538728"/>
            <a:ext cx="54864" cy="1755648"/>
          </a:xfrm>
          <a:prstGeom prst="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58444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B213F"/>
                </a:solidFill>
                <a:latin typeface="Arial"/>
              </a:defRPr>
            </a:pPr>
            <a:r>
              <a:t>Research Domains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886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  Epidemiological cluster detection algorithms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233672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  Geographic Information Systems (GIS) for disease mapping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581144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  Rule-based + ML risk scoring methodologies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928616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  Livestock health management systems globally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FFFFFF"/>
                </a:solidFill>
                <a:latin typeface="Garamond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377440"/>
            <a:ext cx="210312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56032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94A3B8"/>
                </a:solidFill>
                <a:latin typeface="Arial"/>
              </a:defRPr>
            </a:pPr>
            <a:r>
              <a:t>PashuRaksha: AI-Powered Livestock Health Surveillance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474720"/>
            <a:ext cx="1828800" cy="1188720"/>
          </a:xfrm>
          <a:prstGeom prst="roundRect">
            <a:avLst/>
          </a:prstGeom>
          <a:solidFill>
            <a:srgbClr val="10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D4A843"/>
                </a:solidFill>
                <a:latin typeface="Garamond"/>
              </a:defRPr>
            </a:pPr>
            <a:r>
              <a:t>535M+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Livestock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474720"/>
            <a:ext cx="1828800" cy="1188720"/>
          </a:xfrm>
          <a:prstGeom prst="roundRect">
            <a:avLst/>
          </a:prstGeom>
          <a:solidFill>
            <a:srgbClr val="10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D4A843"/>
                </a:solidFill>
                <a:latin typeface="Garamond"/>
              </a:defRPr>
            </a:pPr>
            <a:r>
              <a:t>13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Backend 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474720"/>
            <a:ext cx="1828800" cy="1188720"/>
          </a:xfrm>
          <a:prstGeom prst="roundRect">
            <a:avLst/>
          </a:prstGeom>
          <a:solidFill>
            <a:srgbClr val="10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D4A843"/>
                </a:solidFill>
                <a:latin typeface="Garamond"/>
              </a:defRPr>
            </a:pPr>
            <a:r>
              <a:t>5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Role Dashboards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59" y="3474720"/>
            <a:ext cx="1828800" cy="1188720"/>
          </a:xfrm>
          <a:prstGeom prst="roundRect">
            <a:avLst/>
          </a:prstGeom>
          <a:solidFill>
            <a:srgbClr val="10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D4A843"/>
                </a:solidFill>
                <a:latin typeface="Garamond"/>
              </a:defRPr>
            </a:pPr>
            <a:r>
              <a:t>4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Core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React  |  Spring Boot  |  PostgreSQL + PostGIS  |  Python + FastAPI  | 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6692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4A843"/>
                </a:solidFill>
                <a:latin typeface="Arial"/>
              </a:defRPr>
            </a:pPr>
            <a:r>
              <a:t>Team ANI  |  Smart India Hackathon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